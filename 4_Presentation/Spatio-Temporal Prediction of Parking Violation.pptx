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7" r:id="rId2"/>
    <p:sldId id="258" r:id="rId3"/>
    <p:sldId id="260" r:id="rId4"/>
    <p:sldId id="261" r:id="rId5"/>
    <p:sldId id="262" r:id="rId6"/>
    <p:sldId id="270" r:id="rId7"/>
    <p:sldId id="269" r:id="rId8"/>
    <p:sldId id="263" r:id="rId9"/>
    <p:sldId id="264" r:id="rId10"/>
    <p:sldId id="271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Helle Formatvorlage 3 - Akz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4660"/>
  </p:normalViewPr>
  <p:slideViewPr>
    <p:cSldViewPr snapToGrid="0">
      <p:cViewPr varScale="1">
        <p:scale>
          <a:sx n="83" d="100"/>
          <a:sy n="83" d="100"/>
        </p:scale>
        <p:origin x="8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6B7E3F-0716-492D-81A7-DC67C965AA01}" type="datetimeFigureOut">
              <a:rPr lang="de-DE" smtClean="0"/>
              <a:t>28.02.2026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6EB32B-4097-4532-AD12-2D7EB095B88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19240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EB32B-4097-4532-AD12-2D7EB095B886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5254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b="1" dirty="0" err="1"/>
              <a:t>Embeddings</a:t>
            </a:r>
            <a:r>
              <a:rPr lang="de-DE" b="1" dirty="0"/>
              <a:t>:</a:t>
            </a:r>
            <a:r>
              <a:rPr lang="de-DE" dirty="0"/>
              <a:t> Umwandlung von IDs in Vektoren (besser als </a:t>
            </a:r>
            <a:r>
              <a:rPr lang="de-DE" dirty="0" err="1"/>
              <a:t>One</a:t>
            </a:r>
            <a:r>
              <a:rPr lang="de-DE" dirty="0"/>
              <a:t>-Hot).</a:t>
            </a:r>
          </a:p>
          <a:p>
            <a:r>
              <a:rPr lang="de-DE" b="1" dirty="0" err="1"/>
              <a:t>Concatenate</a:t>
            </a:r>
            <a:r>
              <a:rPr lang="de-DE" b="1" dirty="0"/>
              <a:t>:</a:t>
            </a:r>
            <a:r>
              <a:rPr lang="de-DE" dirty="0"/>
              <a:t> Alles zusammenfügen.</a:t>
            </a:r>
          </a:p>
          <a:p>
            <a:r>
              <a:rPr lang="de-DE" b="1" dirty="0" err="1"/>
              <a:t>Dense</a:t>
            </a:r>
            <a:r>
              <a:rPr lang="de-DE" b="1" dirty="0"/>
              <a:t> (512-&gt;128):</a:t>
            </a:r>
            <a:r>
              <a:rPr lang="de-DE" dirty="0"/>
              <a:t> Trichter-Form zum Komprimieren von Wissen.</a:t>
            </a:r>
          </a:p>
          <a:p>
            <a:r>
              <a:rPr lang="de-DE" b="1" dirty="0"/>
              <a:t>Dropout:</a:t>
            </a:r>
            <a:r>
              <a:rPr lang="de-DE" dirty="0"/>
              <a:t> Gegen Auswendiglernen (</a:t>
            </a:r>
            <a:r>
              <a:rPr lang="de-DE" dirty="0" err="1"/>
              <a:t>Overfitting</a:t>
            </a:r>
            <a:r>
              <a:rPr lang="de-DE" dirty="0"/>
              <a:t>).</a:t>
            </a:r>
          </a:p>
          <a:p>
            <a:r>
              <a:rPr lang="de-DE" b="1" dirty="0"/>
              <a:t>Sigmoid:</a:t>
            </a:r>
            <a:r>
              <a:rPr lang="de-DE" dirty="0"/>
              <a:t> Damit das Ergebnis zwischen 0 und 1 liegt.</a:t>
            </a:r>
          </a:p>
          <a:p>
            <a:r>
              <a:rPr lang="de-DE" b="1" dirty="0"/>
              <a:t>MAE:</a:t>
            </a:r>
            <a:r>
              <a:rPr lang="de-DE" dirty="0"/>
              <a:t> Robust gegen Ausreißer.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6EB32B-4097-4532-AD12-2D7EB095B886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596755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08C9BA-D7D7-568A-0A2B-AF43E4B772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0A96F76-6153-A4F3-2A28-C835CC0A79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8B753CB-4727-2F59-21B9-7D09F2742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E5F58-6828-495A-B6B0-893B8C9D51D5}" type="datetimeFigureOut">
              <a:rPr lang="de-DE" smtClean="0"/>
              <a:t>28.02.2026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269E117-551F-EE44-4044-9A626A4BE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5935E8E-EE7E-1A75-A521-18559BF03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1F59F-C597-4862-9A32-669CC907D59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319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94C362-6BE2-7FD7-D678-2C93D06D8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12F54C6-0555-6CEC-699D-7F21FF3AA3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6C73FC6-7489-5F21-0A03-C9B0D92B1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E5F58-6828-495A-B6B0-893B8C9D51D5}" type="datetimeFigureOut">
              <a:rPr lang="de-DE" smtClean="0"/>
              <a:t>28.02.2026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652A244-455D-3D04-074E-3B4C1DC95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7D1A952-4821-E594-E3D8-6CE749EB4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1F59F-C597-4862-9A32-669CC907D59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36100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6CD60E-9F6C-81AE-570E-1A21D19B6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7E7FD1C-3DBA-20D6-CCD7-48B9FCF754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4865A07-3DE8-0B8A-89FD-0DA63F28D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E5F58-6828-495A-B6B0-893B8C9D51D5}" type="datetimeFigureOut">
              <a:rPr lang="de-DE" smtClean="0"/>
              <a:t>28.02.2026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5E572E6-A211-EAC8-CB55-58AF8DBC8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8C832FA-4B19-E5A9-2721-9E2F49256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1F59F-C597-4862-9A32-669CC907D59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82027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9F9807-7E8F-B02F-3C49-10820C5EF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5564FF5-5EE3-C1C4-CDE5-3BA95A8232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18914D0-BF66-0C1F-E7B3-6B7CE54C91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94613A4-3BEA-9235-292B-19A820B3B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E5F58-6828-495A-B6B0-893B8C9D51D5}" type="datetimeFigureOut">
              <a:rPr lang="de-DE" smtClean="0"/>
              <a:t>28.02.2026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45C5DE9-0CF8-CD1D-0BAE-C17EAAD9D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26D36CE-9B4F-B28B-BC96-BAE16B3A8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1F59F-C597-4862-9A32-669CC907D59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8769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02E1BA-745A-1DD7-7D31-D688A41F6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05FC4DB-16AB-74A6-1C0D-021A332EB9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753E8DA-2EE3-9909-7E6E-C852CAED5C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685E333-BDC0-F602-4B81-1ECC13D37F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BC7B6E1-8B64-585E-98C7-857120CF3B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E8103B1-C54D-28FC-0269-B48ABD100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E5F58-6828-495A-B6B0-893B8C9D51D5}" type="datetimeFigureOut">
              <a:rPr lang="de-DE" smtClean="0"/>
              <a:t>28.02.2026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251E5C6-DF66-93B8-B0CC-693BA3315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39E948F-842A-31F4-8C5C-C9BA531CE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1F59F-C597-4862-9A32-669CC907D59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83212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5EF76D-99D7-6EFE-DECD-DA6FC4202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1A936B0-D65F-1A93-C02C-EB9A3A2FA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E5F58-6828-495A-B6B0-893B8C9D51D5}" type="datetimeFigureOut">
              <a:rPr lang="de-DE" smtClean="0"/>
              <a:t>28.02.2026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036CC4E-87F6-1D9E-93CE-80795364E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C66794D-2358-7379-83DC-9384A9C46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1F59F-C597-4862-9A32-669CC907D59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86230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AEE3CA4-4479-5D4E-0FE7-F62D86AD7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E5F58-6828-495A-B6B0-893B8C9D51D5}" type="datetimeFigureOut">
              <a:rPr lang="de-DE" smtClean="0"/>
              <a:t>28.02.2026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AFB5914-FB07-4DB5-FE90-DD7F2DF0A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063C372-C71D-9D17-41DC-CFE4C0439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1F59F-C597-4862-9A32-669CC907D59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30067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A37F6F-F99C-2A7D-BC56-40048D2B3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1F6ECB-3633-DF16-6EA6-40EC10441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D185420-A3DD-D741-EEC9-0ABE23FC0D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85C480D-BC66-8A44-127C-4A6E273C3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E5F58-6828-495A-B6B0-893B8C9D51D5}" type="datetimeFigureOut">
              <a:rPr lang="de-DE" smtClean="0"/>
              <a:t>28.02.2026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394E3C2-6A16-02B7-8FAB-14E5B0057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CB75255-DB44-CFB6-5D00-304C1EB89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1F59F-C597-4862-9A32-669CC907D59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12408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68DDA8-E779-F56E-20E8-195FA0DD1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8E4140FA-ED40-3F6B-82DD-341E95C8F7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503EB5E-0346-61BE-C804-2AAA61B98B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9A73CB2-B293-50F7-4D9E-4D8322239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E5F58-6828-495A-B6B0-893B8C9D51D5}" type="datetimeFigureOut">
              <a:rPr lang="de-DE" smtClean="0"/>
              <a:t>28.02.2026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D775F96-466E-B1E4-D5A5-B06C751FC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BCE14CA-A59C-9071-45CF-BE0A06426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1F59F-C597-4862-9A32-669CC907D59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31907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AB669C-48B7-C08C-7478-C0EC0CD45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81B85CA-DDBB-F5A6-A654-A9DF66008A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A6035D9-D499-C737-26B4-03DB5FDE1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E5F58-6828-495A-B6B0-893B8C9D51D5}" type="datetimeFigureOut">
              <a:rPr lang="de-DE" smtClean="0"/>
              <a:t>28.02.2026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6E33911-20CB-AEA1-C467-7EB84D59F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66E23F9-7A69-AD1A-6CA4-6F8BDAFC8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1F59F-C597-4862-9A32-669CC907D59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0521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F5DC5B5-EF0B-5D71-372E-87E79B2471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B2E4471-7431-D9A5-841A-414969EFB9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8B28A7A-BB6D-73B0-4764-17D35C33C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E5F58-6828-495A-B6B0-893B8C9D51D5}" type="datetimeFigureOut">
              <a:rPr lang="de-DE" smtClean="0"/>
              <a:t>28.02.2026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9ED5DE9-77A2-66E1-862B-576CB4327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7AF6C0C-34C7-E54F-17AC-4E69771FD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E1F59F-C597-4862-9A32-669CC907D59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2720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FBEAC87-1D15-EB1C-3C49-CA964341D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A76A2F6-9012-0F46-2853-D8F82B4DEE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1D22A07-82B2-9A18-63C2-592CC77B86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2E5F58-6828-495A-B6B0-893B8C9D51D5}" type="datetimeFigureOut">
              <a:rPr lang="de-DE" smtClean="0"/>
              <a:t>28.02.2026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172171B-6D6B-1B0D-A275-D8AFB6006C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E087B0F-8496-1940-575B-F427540436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E1F59F-C597-4862-9A32-669CC907D59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3589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>
            <a:extLst>
              <a:ext uri="{FF2B5EF4-FFF2-40B4-BE49-F238E27FC236}">
                <a16:creationId xmlns:a16="http://schemas.microsoft.com/office/drawing/2014/main" id="{1BE910E2-1276-F6D4-9A56-9EFF4172D96C}"/>
              </a:ext>
            </a:extLst>
          </p:cNvPr>
          <p:cNvSpPr txBox="1"/>
          <p:nvPr/>
        </p:nvSpPr>
        <p:spPr>
          <a:xfrm>
            <a:off x="3020993" y="5344483"/>
            <a:ext cx="66438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dirty="0">
                <a:solidFill>
                  <a:schemeClr val="bg1"/>
                </a:solidFill>
              </a:rPr>
              <a:t>By Vitali Sorin</a:t>
            </a:r>
          </a:p>
        </p:txBody>
      </p:sp>
    </p:spTree>
    <p:extLst>
      <p:ext uri="{BB962C8B-B14F-4D97-AF65-F5344CB8AC3E}">
        <p14:creationId xmlns:p14="http://schemas.microsoft.com/office/powerpoint/2010/main" val="2022233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C4A2D3A-0366-F0EF-9716-63726C1BA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Introduction and Problem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8FF2DFD-FD20-C19B-A0C8-4A11F51BCC7C}"/>
              </a:ext>
            </a:extLst>
          </p:cNvPr>
          <p:cNvSpPr txBox="1"/>
          <p:nvPr/>
        </p:nvSpPr>
        <p:spPr>
          <a:xfrm>
            <a:off x="4810259" y="649480"/>
            <a:ext cx="6555347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Problem: </a:t>
            </a:r>
            <a:r>
              <a:rPr lang="en-US" sz="2000" dirty="0"/>
              <a:t>Efficient parking enforcement requires knowing </a:t>
            </a:r>
            <a:r>
              <a:rPr lang="en-US" sz="2000" i="1" dirty="0"/>
              <a:t>where</a:t>
            </a:r>
            <a:r>
              <a:rPr lang="en-US" sz="2000" dirty="0"/>
              <a:t> and </a:t>
            </a:r>
            <a:r>
              <a:rPr lang="en-US" sz="2000" i="1" dirty="0"/>
              <a:t>when</a:t>
            </a:r>
            <a:r>
              <a:rPr lang="en-US" sz="2000" dirty="0"/>
              <a:t> violations occur. Random patrols are inefficient.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Goal:</a:t>
            </a:r>
            <a:r>
              <a:rPr lang="en-US" sz="2000" dirty="0"/>
              <a:t> Predict the </a:t>
            </a:r>
            <a:r>
              <a:rPr lang="en-US" sz="2000" dirty="0" err="1"/>
              <a:t>invalid_ratio</a:t>
            </a:r>
            <a:r>
              <a:rPr lang="en-US" sz="2000" dirty="0"/>
              <a:t> (percentage of parking violators) for specific zones and time slots.</a:t>
            </a:r>
            <a:br>
              <a:rPr lang="en-US" sz="2000" dirty="0"/>
            </a:br>
            <a:endParaRPr lang="en-US" sz="20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Task Type:</a:t>
            </a:r>
            <a:r>
              <a:rPr lang="en-US" sz="2000" dirty="0"/>
              <a:t> Regression (predicting a continuous value between 0.0 and 1.0)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Dataset:</a:t>
            </a:r>
            <a:r>
              <a:rPr lang="en-US" sz="2000" dirty="0"/>
              <a:t> Real-world parking data (~8 million records total) containing spatial coordinates and timestamps.</a:t>
            </a:r>
          </a:p>
        </p:txBody>
      </p:sp>
    </p:spTree>
    <p:extLst>
      <p:ext uri="{BB962C8B-B14F-4D97-AF65-F5344CB8AC3E}">
        <p14:creationId xmlns:p14="http://schemas.microsoft.com/office/powerpoint/2010/main" val="2984366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249FCF75-2A8D-F4FE-BED3-D01459824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Literature Review</a:t>
            </a:r>
            <a:b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014A77AC-85FC-AFF8-FD6C-C9757ADCE827}"/>
              </a:ext>
            </a:extLst>
          </p:cNvPr>
          <p:cNvSpPr txBox="1"/>
          <p:nvPr/>
        </p:nvSpPr>
        <p:spPr>
          <a:xfrm>
            <a:off x="4810259" y="649480"/>
            <a:ext cx="6555347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Related Work:</a:t>
            </a:r>
            <a:endParaRPr lang="en-US" sz="2000" dirty="0"/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 err="1"/>
              <a:t>Spatio</a:t>
            </a:r>
            <a:r>
              <a:rPr lang="en-US" sz="2000" b="1" dirty="0"/>
              <a:t>-Temporal Forecasting:</a:t>
            </a:r>
            <a:r>
              <a:rPr lang="en-US" sz="2000" dirty="0"/>
              <a:t> Common in traffic flow prediction and crime hotspots.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Tabular Data State-of-the-Art:</a:t>
            </a:r>
            <a:r>
              <a:rPr lang="en-US" sz="2000" dirty="0"/>
              <a:t> Gradient Boosting Trees (</a:t>
            </a:r>
            <a:r>
              <a:rPr lang="en-US" sz="2000" dirty="0" err="1"/>
              <a:t>XGBoost</a:t>
            </a:r>
            <a:r>
              <a:rPr lang="en-US" sz="2000" dirty="0"/>
              <a:t>/</a:t>
            </a:r>
            <a:r>
              <a:rPr lang="en-US" sz="2000" dirty="0" err="1"/>
              <a:t>CatBoost</a:t>
            </a:r>
            <a:r>
              <a:rPr lang="en-US" sz="2000" dirty="0"/>
              <a:t>) generally outperform Deep Learning on tabular datasets (paper reference: </a:t>
            </a:r>
            <a:r>
              <a:rPr lang="en-US" sz="2000" i="1" dirty="0" err="1"/>
              <a:t>Grinsztajn</a:t>
            </a:r>
            <a:r>
              <a:rPr lang="en-US" sz="2000" i="1" dirty="0"/>
              <a:t> et al., 2022</a:t>
            </a:r>
            <a:r>
              <a:rPr lang="en-US" sz="2000" dirty="0"/>
              <a:t>).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Spatial Embedding:</a:t>
            </a:r>
            <a:r>
              <a:rPr lang="en-US" sz="2000" dirty="0"/>
              <a:t> Using Clustering (K-Means) to represent geo-locations for Neural Networks.</a:t>
            </a:r>
          </a:p>
        </p:txBody>
      </p:sp>
    </p:spTree>
    <p:extLst>
      <p:ext uri="{BB962C8B-B14F-4D97-AF65-F5344CB8AC3E}">
        <p14:creationId xmlns:p14="http://schemas.microsoft.com/office/powerpoint/2010/main" val="1741738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7C53B6-7474-A4B6-348C-9813B1E40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D230482F-4015-3E10-E820-262F45090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3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Dataset Characteristics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B3F0965C-5C1C-E528-3C00-3E0D42E88439}"/>
              </a:ext>
            </a:extLst>
          </p:cNvPr>
          <p:cNvSpPr txBox="1"/>
          <p:nvPr/>
        </p:nvSpPr>
        <p:spPr>
          <a:xfrm>
            <a:off x="4810259" y="649480"/>
            <a:ext cx="6555347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1" dirty="0"/>
              <a:t>Observations:</a:t>
            </a:r>
            <a:br>
              <a:rPr lang="en-US" sz="2000" b="1" dirty="0"/>
            </a:br>
            <a:r>
              <a:rPr lang="en-US" sz="2000" dirty="0"/>
              <a:t> </a:t>
            </a:r>
            <a:br>
              <a:rPr lang="en-US" sz="2000" dirty="0"/>
            </a:br>
            <a:r>
              <a:rPr lang="en-US" sz="2000" dirty="0"/>
              <a:t>~6M Training samples, ~2M Test samples.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0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Features:</a:t>
            </a:r>
            <a:br>
              <a:rPr lang="en-US" sz="2000" dirty="0"/>
            </a:b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i="1" dirty="0"/>
              <a:t>Spatial:</a:t>
            </a:r>
            <a:r>
              <a:rPr lang="en-US" sz="2000" dirty="0"/>
              <a:t> Latitude, Longitude (scaled).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i="1" dirty="0"/>
              <a:t>Temporal:</a:t>
            </a:r>
            <a:r>
              <a:rPr lang="en-US" sz="2000" dirty="0"/>
              <a:t> Hour (0-23), Day of Week, Month.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i="1" dirty="0"/>
              <a:t>Context:</a:t>
            </a:r>
            <a:r>
              <a:rPr lang="en-US" sz="2000" dirty="0"/>
              <a:t> Total Count (Traffic volume).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Target (</a:t>
            </a:r>
            <a:r>
              <a:rPr lang="en-US" sz="2000" dirty="0" err="1"/>
              <a:t>invalid_ratio</a:t>
            </a:r>
            <a:r>
              <a:rPr lang="en-US" sz="2000" dirty="0"/>
              <a:t>):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Bimodal distribution (Spikes at 0.0 and 1.0).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Mean value approx. 0.502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br>
              <a:rPr lang="en-US" sz="2000" dirty="0"/>
            </a:b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26626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C86F6E-C669-7611-9033-162AFA322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BD630861-F044-DCC7-9A28-9DA1A271E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998" y="511388"/>
            <a:ext cx="3201366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Data Preprocessing &amp; Engineering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DA3D45C9-D205-751A-3F58-03FDC8858CE6}"/>
              </a:ext>
            </a:extLst>
          </p:cNvPr>
          <p:cNvSpPr txBox="1"/>
          <p:nvPr/>
        </p:nvSpPr>
        <p:spPr>
          <a:xfrm>
            <a:off x="4810259" y="649480"/>
            <a:ext cx="6555347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Preprocessing Steps: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Log-Transformation:</a:t>
            </a:r>
            <a:r>
              <a:rPr lang="en-US" sz="2000" dirty="0"/>
              <a:t> Applied to </a:t>
            </a:r>
            <a:r>
              <a:rPr lang="en-US" sz="2000" dirty="0" err="1"/>
              <a:t>total_count</a:t>
            </a:r>
            <a:r>
              <a:rPr lang="en-US" sz="2000" dirty="0"/>
              <a:t> to handle skewed distribution (e.g., distinguishing between 1 car and 1000 cars).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Spatial Clustering </a:t>
            </a:r>
            <a:r>
              <a:rPr lang="en-US" sz="2000" dirty="0"/>
              <a:t>Used </a:t>
            </a:r>
            <a:r>
              <a:rPr lang="en-US" sz="2000" b="1" dirty="0"/>
              <a:t>K-Means Clustering</a:t>
            </a:r>
            <a:r>
              <a:rPr lang="en-US" sz="2000" dirty="0"/>
              <a:t> to convert raw Lat/Lon into specific "Zone IDs“</a:t>
            </a:r>
            <a:br>
              <a:rPr lang="en-US" sz="2000" dirty="0"/>
            </a:b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Encoding:</a:t>
            </a:r>
            <a:r>
              <a:rPr lang="en-US" sz="2000" dirty="0"/>
              <a:t> One-Hot Encoding for Random Forest/NN vs. Native Categorical handling for </a:t>
            </a:r>
            <a:r>
              <a:rPr lang="en-US" sz="2000" dirty="0" err="1"/>
              <a:t>CatBoost</a:t>
            </a:r>
            <a:r>
              <a:rPr lang="en-US" sz="2000" dirty="0"/>
              <a:t>.</a:t>
            </a:r>
            <a:br>
              <a:rPr lang="en-US" sz="2000" dirty="0"/>
            </a:b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1130350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22587ECF-85E9-4393-9D87-8EB6F3F6C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714D8A6-6F2D-C739-8C6E-A340CD996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37883"/>
            <a:ext cx="4783697" cy="194281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Spatial Clustering K-means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51A20CD1-65F5-94C7-827C-48A2F0313B04}"/>
              </a:ext>
            </a:extLst>
          </p:cNvPr>
          <p:cNvSpPr txBox="1"/>
          <p:nvPr/>
        </p:nvSpPr>
        <p:spPr>
          <a:xfrm>
            <a:off x="838199" y="2686323"/>
            <a:ext cx="4783697" cy="34335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Raw GPS coordinates (Latitude/Longitude) just continuous numbers.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Neural Networks struggle to interpret purely numerical coordinates as "places" or "neighborhoods“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I choose 300 “areas” as a trade-off.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0F6D2C9-8972-2ECA-4CE3-D9747643AA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88424" y="1182743"/>
            <a:ext cx="5365375" cy="4292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25469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D290F9-1171-7D85-ABD0-5350FD33E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91" name="Rectangle 109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3" name="Rectangle 109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66402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5" name="Rectangle 109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70175"/>
            <a:ext cx="12185331" cy="1590742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7" name="Rectangle 109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5265546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9" name="Rectangle 109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3335" y="5263483"/>
            <a:ext cx="12192000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50A362C1-388E-A1CA-76C1-2C07B4F0C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5510253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Evaluation Metric: Spearman Correlation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12A551E-CFEC-14B4-F056-3D1927910D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027"/>
          <a:stretch>
            <a:fillRect/>
          </a:stretch>
        </p:blipFill>
        <p:spPr bwMode="auto">
          <a:xfrm>
            <a:off x="1940256" y="456436"/>
            <a:ext cx="8311487" cy="3107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DD02C44E-2AA4-604C-369F-B403488CA3D8}"/>
              </a:ext>
            </a:extLst>
          </p:cNvPr>
          <p:cNvSpPr txBox="1"/>
          <p:nvPr/>
        </p:nvSpPr>
        <p:spPr>
          <a:xfrm>
            <a:off x="1940256" y="3833199"/>
            <a:ext cx="8332826" cy="11199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A statistical measure of the monotonic relationship between two variables.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/>
              <a:t>Unlike Pearson correlation (which measures linear relationships), Spearman evaluates the correlation of ranks.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78A48D2-7F94-41FC-AA11-C93AA60CC6C1}"/>
              </a:ext>
            </a:extLst>
          </p:cNvPr>
          <p:cNvSpPr txBox="1"/>
          <p:nvPr/>
        </p:nvSpPr>
        <p:spPr>
          <a:xfrm>
            <a:off x="4810259" y="649480"/>
            <a:ext cx="6555347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br>
              <a:rPr lang="en-US" sz="2000" dirty="0"/>
            </a:b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0318280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CD571F-1C7B-B119-6056-549EF09B2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08EA3375-95D1-5CAD-30C8-1D41B0C7E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Baseline Model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A8F5391-B421-A9F8-1AF1-D72BC5AA7ADE}"/>
              </a:ext>
            </a:extLst>
          </p:cNvPr>
          <p:cNvSpPr txBox="1"/>
          <p:nvPr/>
        </p:nvSpPr>
        <p:spPr>
          <a:xfrm>
            <a:off x="4810259" y="649480"/>
            <a:ext cx="6555347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1" dirty="0"/>
              <a:t>Model:</a:t>
            </a:r>
            <a:r>
              <a:rPr lang="en-US" sz="2000" dirty="0"/>
              <a:t> Random Forest Regressor (Scikit-Learn).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  Configuration: </a:t>
            </a:r>
            <a:r>
              <a:rPr lang="en-US" sz="2000" dirty="0" err="1"/>
              <a:t>n_estimators</a:t>
            </a:r>
            <a:r>
              <a:rPr lang="en-US" sz="2000" dirty="0"/>
              <a:t>=50, </a:t>
            </a:r>
            <a:r>
              <a:rPr lang="en-US" sz="2000" dirty="0" err="1"/>
              <a:t>max_depth</a:t>
            </a:r>
            <a:r>
              <a:rPr lang="en-US" sz="2000" dirty="0"/>
              <a:t>=15.</a:t>
            </a: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Parameters chosen to cut the training time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000" b="1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1" dirty="0"/>
              <a:t>Why was it chosen?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000" b="1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Performed well in literature and robust to outliers.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Handles non-linear relationships well.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Requires minimal preprocessing compared to Neural  Networks.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0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1" dirty="0"/>
              <a:t>Performance:</a:t>
            </a:r>
            <a:r>
              <a:rPr lang="en-US" sz="2000" dirty="0"/>
              <a:t>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Spearman Correlation ~0.46875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2885411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4AB7D1-AD23-207E-6BAE-8D44DC9E6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14ADC87C-A480-3240-F87A-2DFEBAD70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Advanced Models (Model Definition)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CDEE5FFC-1766-FD19-6757-144404734026}"/>
              </a:ext>
            </a:extLst>
          </p:cNvPr>
          <p:cNvSpPr txBox="1"/>
          <p:nvPr/>
        </p:nvSpPr>
        <p:spPr>
          <a:xfrm>
            <a:off x="4810259" y="649480"/>
            <a:ext cx="6555347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1" dirty="0"/>
              <a:t>Challenger 1: </a:t>
            </a:r>
            <a:r>
              <a:rPr lang="en-US" sz="1900" b="1" dirty="0" err="1"/>
              <a:t>CatBoost</a:t>
            </a:r>
            <a:r>
              <a:rPr lang="en-US" sz="1900" b="1" dirty="0"/>
              <a:t> (Gradient Boosting)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9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/>
              <a:t>Optimized for categorical data (Day, Month, Zone).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9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/>
              <a:t>Native handling of categories (no One-Hot needed).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9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dirty="0"/>
              <a:t>Parameter: depth=6, iterations=700.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9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1" dirty="0"/>
              <a:t>Challenger 2: Deep Neural Network (TensorFlow/</a:t>
            </a:r>
            <a:r>
              <a:rPr lang="en-US" sz="1900" b="1" dirty="0" err="1"/>
              <a:t>Keras</a:t>
            </a:r>
            <a:r>
              <a:rPr lang="en-US" sz="1900" b="1" dirty="0"/>
              <a:t>)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9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1" dirty="0"/>
              <a:t>Architecture:</a:t>
            </a:r>
            <a:r>
              <a:rPr lang="en-US" sz="1900" dirty="0"/>
              <a:t> Multi-Input Model.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1" dirty="0"/>
              <a:t>Embeddings:</a:t>
            </a:r>
            <a:r>
              <a:rPr lang="en-US" sz="1900" dirty="0"/>
              <a:t> Learned vector representations for Zones and Time.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1" dirty="0"/>
              <a:t>Structure:</a:t>
            </a:r>
            <a:r>
              <a:rPr lang="en-US" sz="1900" dirty="0"/>
              <a:t> Dense Layers (512 -&gt; 256 -&gt; 128) with </a:t>
            </a:r>
            <a:r>
              <a:rPr lang="en-US" sz="1900" dirty="0" err="1"/>
              <a:t>BatchNormalization</a:t>
            </a:r>
            <a:r>
              <a:rPr lang="en-US" sz="1900" dirty="0"/>
              <a:t> and Dropout.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 b="1" dirty="0"/>
              <a:t>Optimization:</a:t>
            </a:r>
            <a:r>
              <a:rPr lang="en-US" sz="1900" dirty="0"/>
              <a:t> Trained with Custom Spearman Callback.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6505769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06E102-4EF7-AC0D-FF01-EECB7577A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FFCDD23B-75C8-427B-BD08-53C8156CD7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FFC87AC-C919-4FE5-BAC3-39509E00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64" y="5282206"/>
            <a:ext cx="12192264" cy="1163844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11000"/>
                </a:schemeClr>
              </a:gs>
              <a:gs pos="100000">
                <a:srgbClr val="000000">
                  <a:alpha val="77000"/>
                </a:srgbClr>
              </a:gs>
            </a:gsLst>
            <a:lin ang="12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5282206"/>
            <a:ext cx="12191998" cy="158648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E2547C23-BCBB-2CA1-D160-C4053216D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5" y="5635366"/>
            <a:ext cx="7091299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Neural Network Code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5282206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C93FAF71-7AE9-5880-8838-D9A367C61977}"/>
              </a:ext>
            </a:extLst>
          </p:cNvPr>
          <p:cNvSpPr txBox="1"/>
          <p:nvPr/>
        </p:nvSpPr>
        <p:spPr>
          <a:xfrm>
            <a:off x="4810259" y="649480"/>
            <a:ext cx="6555347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9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900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2736088F-13C8-0840-377C-72A95067F9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13817"/>
            <a:ext cx="5908833" cy="5080492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D9DE086B-391C-41FE-29E6-19A8296C10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4207" y="62999"/>
            <a:ext cx="5431400" cy="5156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938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727FA1-4752-DD76-023B-8B653E688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1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6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18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0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Freeform: Shape 22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B226E9DE-F722-89B9-C01B-164177C4E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Results (Performance)</a:t>
            </a:r>
          </a:p>
        </p:txBody>
      </p:sp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849D2846-DD67-5F33-68AB-8206008690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4281714"/>
              </p:ext>
            </p:extLst>
          </p:nvPr>
        </p:nvGraphicFramePr>
        <p:xfrm>
          <a:off x="4502428" y="1676587"/>
          <a:ext cx="4983232" cy="4142562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474823">
                  <a:extLst>
                    <a:ext uri="{9D8B030D-6E8A-4147-A177-3AD203B41FA5}">
                      <a16:colId xmlns:a16="http://schemas.microsoft.com/office/drawing/2014/main" val="2896437043"/>
                    </a:ext>
                  </a:extLst>
                </a:gridCol>
                <a:gridCol w="2508409">
                  <a:extLst>
                    <a:ext uri="{9D8B030D-6E8A-4147-A177-3AD203B41FA5}">
                      <a16:colId xmlns:a16="http://schemas.microsoft.com/office/drawing/2014/main" val="1894682103"/>
                    </a:ext>
                  </a:extLst>
                </a:gridCol>
              </a:tblGrid>
              <a:tr h="12389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2200" b="0" cap="none" spc="0" dirty="0">
                          <a:solidFill>
                            <a:schemeClr val="tx1"/>
                          </a:solidFill>
                        </a:rPr>
                        <a:t>Model</a:t>
                      </a:r>
                    </a:p>
                  </a:txBody>
                  <a:tcPr marL="142221" marR="142221" marT="99554" marB="99554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 cap="none" spc="0" dirty="0">
                          <a:solidFill>
                            <a:schemeClr val="tx1"/>
                          </a:solidFill>
                        </a:rPr>
                        <a:t>Spearman Correlation (Higher is better)</a:t>
                      </a:r>
                    </a:p>
                  </a:txBody>
                  <a:tcPr marL="142221" marR="142221" marT="99554" marB="99554"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5194548"/>
                  </a:ext>
                </a:extLst>
              </a:tr>
              <a:tr h="9030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2200" b="1" cap="none" spc="0" dirty="0">
                          <a:solidFill>
                            <a:schemeClr val="tx1"/>
                          </a:solidFill>
                        </a:rPr>
                        <a:t>Random Forest (Baseline)</a:t>
                      </a:r>
                      <a:endParaRPr lang="de-DE" sz="2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42221" marR="142221" marT="99554" marB="99554" anchor="ctr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900" kern="1200" cap="none" spc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0.46875</a:t>
                      </a:r>
                    </a:p>
                  </a:txBody>
                  <a:tcPr marL="142221" marR="142221" marT="99554" marB="99554" anchor="ctr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8687581"/>
                  </a:ext>
                </a:extLst>
              </a:tr>
              <a:tr h="79560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de-DE" sz="2200" b="1" kern="1200" cap="none" spc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Neural</a:t>
                      </a:r>
                      <a:r>
                        <a:rPr lang="de-DE" sz="2200" b="1" kern="1200" cap="none" spc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Network</a:t>
                      </a:r>
                    </a:p>
                  </a:txBody>
                  <a:tcPr marL="142221" marR="142221" marT="99554" marB="9955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900" cap="none" spc="0" dirty="0">
                          <a:solidFill>
                            <a:schemeClr val="tx1"/>
                          </a:solidFill>
                        </a:rPr>
                        <a:t>0.3296</a:t>
                      </a:r>
                    </a:p>
                  </a:txBody>
                  <a:tcPr marL="142221" marR="142221" marT="99554" marB="9955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503534"/>
                  </a:ext>
                </a:extLst>
              </a:tr>
              <a:tr h="5672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2200" b="1" cap="none" spc="0" dirty="0" err="1">
                          <a:solidFill>
                            <a:schemeClr val="tx1"/>
                          </a:solidFill>
                        </a:rPr>
                        <a:t>CatBoost</a:t>
                      </a:r>
                      <a:br>
                        <a:rPr lang="de-DE" sz="2200" b="1" cap="none" spc="0" dirty="0">
                          <a:solidFill>
                            <a:schemeClr val="tx1"/>
                          </a:solidFill>
                        </a:rPr>
                      </a:br>
                      <a:endParaRPr lang="de-DE" sz="2200" b="1" cap="none" spc="0" dirty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r>
                        <a:rPr lang="de-DE" sz="2200" b="1" cap="none" spc="0" dirty="0">
                          <a:solidFill>
                            <a:schemeClr val="tx1"/>
                          </a:solidFill>
                        </a:rPr>
                        <a:t>Benchmark</a:t>
                      </a:r>
                      <a:endParaRPr lang="de-DE" sz="22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42221" marR="142221" marT="99554" marB="99554" anchor="ctr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900" kern="1200" cap="none" spc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0.4852</a:t>
                      </a:r>
                    </a:p>
                    <a:p>
                      <a:pPr>
                        <a:buNone/>
                      </a:pPr>
                      <a:br>
                        <a:rPr lang="de-DE" sz="1900" kern="1200" cap="none" spc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de-DE" sz="1900" kern="1200" cap="none" spc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0.197</a:t>
                      </a:r>
                    </a:p>
                  </a:txBody>
                  <a:tcPr marL="142221" marR="142221" marT="99554" marB="99554" anchor="ctr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34723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55015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0E65C80-88B2-8FED-9C34-66422ECCB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Challenges &amp; Errors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3CB78C3B-8E47-301D-C3AB-04FB2DB3C4BF}"/>
              </a:ext>
            </a:extLst>
          </p:cNvPr>
          <p:cNvSpPr txBox="1"/>
          <p:nvPr/>
        </p:nvSpPr>
        <p:spPr>
          <a:xfrm>
            <a:off x="4810259" y="649480"/>
            <a:ext cx="6555347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1" dirty="0"/>
              <a:t>The "Out of Memory" (OOM) Challenge:</a:t>
            </a: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Problem:</a:t>
            </a:r>
            <a:r>
              <a:rPr lang="en-US" sz="2000" dirty="0"/>
              <a:t> Google </a:t>
            </a:r>
            <a:r>
              <a:rPr lang="en-US" sz="2000" dirty="0" err="1"/>
              <a:t>Colab</a:t>
            </a:r>
            <a:r>
              <a:rPr lang="en-US" sz="2000" dirty="0"/>
              <a:t> RAM crashed when using </a:t>
            </a:r>
            <a:r>
              <a:rPr lang="en-US" sz="2000" dirty="0" err="1"/>
              <a:t>pd.get_dummies</a:t>
            </a:r>
            <a:r>
              <a:rPr lang="en-US" sz="2000" dirty="0"/>
              <a:t> on the combined dataset or merging large </a:t>
            </a:r>
            <a:r>
              <a:rPr lang="en-US" sz="2000" dirty="0" err="1"/>
              <a:t>DataFrames</a:t>
            </a:r>
            <a:r>
              <a:rPr lang="en-US" sz="2000" dirty="0"/>
              <a:t>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Solution:</a:t>
            </a:r>
            <a:endParaRPr lang="en-US" sz="2000" dirty="0"/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Used </a:t>
            </a:r>
            <a:r>
              <a:rPr lang="en-US" sz="2000" b="1" dirty="0"/>
              <a:t>Garbage Collection (</a:t>
            </a:r>
            <a:r>
              <a:rPr lang="en-US" sz="2000" b="1" dirty="0" err="1"/>
              <a:t>gc.collect</a:t>
            </a:r>
            <a:r>
              <a:rPr lang="en-US" sz="2000" b="1" dirty="0"/>
              <a:t>)</a:t>
            </a:r>
            <a:r>
              <a:rPr lang="en-US" sz="2000" dirty="0"/>
              <a:t> aggressively.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Switched to </a:t>
            </a:r>
            <a:r>
              <a:rPr lang="en-US" sz="2000" b="1" dirty="0"/>
              <a:t>Native Categorical Features</a:t>
            </a:r>
            <a:r>
              <a:rPr lang="en-US" sz="2000" dirty="0"/>
              <a:t> in </a:t>
            </a:r>
            <a:r>
              <a:rPr lang="en-US" sz="2000" dirty="0" err="1"/>
              <a:t>CatBoost</a:t>
            </a:r>
            <a:r>
              <a:rPr lang="en-US" sz="2000" dirty="0"/>
              <a:t> to avoid the memory explosion of One-Hot Encoding.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Implemented a </a:t>
            </a:r>
            <a:r>
              <a:rPr lang="en-US" sz="2000" b="1" dirty="0"/>
              <a:t>RAM-safe submission pipeline</a:t>
            </a:r>
            <a:r>
              <a:rPr lang="en-US" sz="2000" dirty="0"/>
              <a:t> (processing test data separately).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084305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E303EF2-5970-C7BE-6ECE-B06495DCC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Discussion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71F41A6E-E3BA-DE63-0755-7F2F902DE085}"/>
              </a:ext>
            </a:extLst>
          </p:cNvPr>
          <p:cNvSpPr txBox="1"/>
          <p:nvPr/>
        </p:nvSpPr>
        <p:spPr>
          <a:xfrm>
            <a:off x="4810259" y="649480"/>
            <a:ext cx="6555347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3600" dirty="0"/>
              <a:t>Reflection: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Tree-based models (</a:t>
            </a:r>
            <a:r>
              <a:rPr lang="en-US" sz="2000" dirty="0" err="1"/>
              <a:t>CatBoost</a:t>
            </a:r>
            <a:r>
              <a:rPr lang="en-US" sz="2000" dirty="0"/>
              <a:t>) are more efficient and accurate for this specific tabular dataset.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Neural Networks require extensive feature engineering (Embeddings, Clustering) to compete with Trees on spatial data.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Metric: Optimizing for Spearman Correlation (Rank) instead of just MSE helped the model focus on the order of violations rather than exact values.</a:t>
            </a:r>
          </a:p>
        </p:txBody>
      </p:sp>
    </p:spTree>
    <p:extLst>
      <p:ext uri="{BB962C8B-B14F-4D97-AF65-F5344CB8AC3E}">
        <p14:creationId xmlns:p14="http://schemas.microsoft.com/office/powerpoint/2010/main" val="8098897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8" name="Rectangle 6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0" name="Rectangle 6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3E9C65E-A7D5-0543-AC7B-96983E77E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Conclusion &amp; Future Work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E1515114-D365-D21A-345B-52B3E96EE462}"/>
              </a:ext>
            </a:extLst>
          </p:cNvPr>
          <p:cNvSpPr txBox="1"/>
          <p:nvPr/>
        </p:nvSpPr>
        <p:spPr>
          <a:xfrm>
            <a:off x="4810259" y="649480"/>
            <a:ext cx="6555347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800" dirty="0"/>
              <a:t>Conclusion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0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Successfully improved prediction performance from Baseline (~0.46) to Final Model (~0.48).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800" dirty="0"/>
              <a:t>Future Considerations: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    </a:t>
            </a:r>
            <a:r>
              <a:rPr lang="en-US" sz="2000" dirty="0" err="1"/>
              <a:t>Ensembling</a:t>
            </a:r>
            <a:r>
              <a:rPr lang="en-US" sz="2000" dirty="0"/>
              <a:t>: Combine </a:t>
            </a:r>
            <a:r>
              <a:rPr lang="en-US" sz="2000" dirty="0" err="1"/>
              <a:t>CatBoost</a:t>
            </a:r>
            <a:r>
              <a:rPr lang="en-US" sz="2000" dirty="0"/>
              <a:t> and Neural Network predictions (Model Stacking).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    Add External Data: for example, holiday calendars.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    Hyperparameter Tuning</a:t>
            </a:r>
          </a:p>
        </p:txBody>
      </p:sp>
    </p:spTree>
    <p:extLst>
      <p:ext uri="{BB962C8B-B14F-4D97-AF65-F5344CB8AC3E}">
        <p14:creationId xmlns:p14="http://schemas.microsoft.com/office/powerpoint/2010/main" val="42096021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783</Words>
  <Application>Microsoft Office PowerPoint</Application>
  <PresentationFormat>Breitbild</PresentationFormat>
  <Paragraphs>119</Paragraphs>
  <Slides>14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</vt:lpstr>
      <vt:lpstr>PowerPoint-Präsentation</vt:lpstr>
      <vt:lpstr>Introduction and Problem</vt:lpstr>
      <vt:lpstr> Literature Review </vt:lpstr>
      <vt:lpstr>Dataset Characteristics</vt:lpstr>
      <vt:lpstr>Data Preprocessing &amp; Engineering</vt:lpstr>
      <vt:lpstr>Spatial Clustering K-means</vt:lpstr>
      <vt:lpstr>Evaluation Metric: Spearman Correlation</vt:lpstr>
      <vt:lpstr>Baseline Model</vt:lpstr>
      <vt:lpstr>Advanced Models (Model Definition)</vt:lpstr>
      <vt:lpstr>Neural Network Code</vt:lpstr>
      <vt:lpstr>Results (Performance)</vt:lpstr>
      <vt:lpstr>Challenges &amp; Errors</vt:lpstr>
      <vt:lpstr>Discussion</vt:lpstr>
      <vt:lpstr>Conclusion &amp; 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 so</dc:creator>
  <cp:lastModifiedBy>vi so</cp:lastModifiedBy>
  <cp:revision>9</cp:revision>
  <dcterms:created xsi:type="dcterms:W3CDTF">2026-01-19T20:26:20Z</dcterms:created>
  <dcterms:modified xsi:type="dcterms:W3CDTF">2026-02-28T14:57:10Z</dcterms:modified>
</cp:coreProperties>
</file>